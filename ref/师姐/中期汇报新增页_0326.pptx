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
  </p:notesMasterIdLst>
  <p:sldIdLst>
    <p:sldId id="9802"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varScale="1">
        <p:scale>
          <a:sx n="113" d="100"/>
          <a:sy n="113" d="100"/>
        </p:scale>
        <p:origin x="25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EFFC5E-738E-4FAC-9D7A-C519B3BE8DB8}" type="datetimeFigureOut">
              <a:rPr lang="zh-CN" altLang="en-US" smtClean="0"/>
              <a:t>2026/3/25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DD8ED6-9728-4353-A4E7-CFDE595CA0FF}" type="slidenum">
              <a:rPr lang="zh-CN" altLang="en-US" smtClean="0"/>
              <a:t>‹#›</a:t>
            </a:fld>
            <a:endParaRPr lang="zh-CN" altLang="en-US"/>
          </a:p>
        </p:txBody>
      </p:sp>
    </p:spTree>
    <p:extLst>
      <p:ext uri="{BB962C8B-B14F-4D97-AF65-F5344CB8AC3E}">
        <p14:creationId xmlns:p14="http://schemas.microsoft.com/office/powerpoint/2010/main" val="2622295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（突出成果质量，基础研究类项目要突出代表性成果的原创性、科学价值和影响力；技术和产品开发类项目突出代表性成果的创新性、先进性和成熟度）</a:t>
            </a:r>
            <a:endParaRPr lang="zh-CN" altLang="en-US"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52706C-ED0A-43FD-8C04-BA50C52F8C7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 name="矩形 2"/>
          <p:cNvSpPr/>
          <p:nvPr userDrawn="1"/>
        </p:nvSpPr>
        <p:spPr>
          <a:xfrm>
            <a:off x="1209" y="2060847"/>
            <a:ext cx="12192000" cy="2160241"/>
          </a:xfrm>
          <a:prstGeom prst="rect">
            <a:avLst/>
          </a:prstGeom>
          <a:solidFill>
            <a:srgbClr val="093385"/>
          </a:solidFill>
          <a:ln>
            <a:solidFill>
              <a:srgbClr val="09338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800"/>
          </a:p>
        </p:txBody>
      </p:sp>
    </p:spTree>
    <p:extLst>
      <p:ext uri="{BB962C8B-B14F-4D97-AF65-F5344CB8AC3E}">
        <p14:creationId xmlns:p14="http://schemas.microsoft.com/office/powerpoint/2010/main" val="340719448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E78736C7-4FA5-4CDD-925D-E5B5A8246F76}" type="slidenum">
              <a:rPr lang="en-US" altLang="zh-CN"/>
              <a:t>‹#›</a:t>
            </a:fld>
            <a:endParaRPr lang="en-US" altLang="zh-CN"/>
          </a:p>
        </p:txBody>
      </p:sp>
    </p:spTree>
    <p:extLst>
      <p:ext uri="{BB962C8B-B14F-4D97-AF65-F5344CB8AC3E}">
        <p14:creationId xmlns:p14="http://schemas.microsoft.com/office/powerpoint/2010/main" val="3812634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BC80A21D-92AC-42E0-9E7E-7C9E63659D2E}" type="slidenum">
              <a:rPr lang="en-US" altLang="zh-CN"/>
              <a:t>‹#›</a:t>
            </a:fld>
            <a:endParaRPr lang="en-US" altLang="zh-CN"/>
          </a:p>
        </p:txBody>
      </p:sp>
    </p:spTree>
    <p:extLst>
      <p:ext uri="{BB962C8B-B14F-4D97-AF65-F5344CB8AC3E}">
        <p14:creationId xmlns:p14="http://schemas.microsoft.com/office/powerpoint/2010/main" val="3370257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1625600" y="228600"/>
            <a:ext cx="9855200" cy="8382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0"/>
            <a:ext cx="53848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0"/>
            <a:ext cx="53848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D561F9E5-7806-438D-9C10-41B91B7C3696}" type="slidenum">
              <a:rPr lang="en-US" altLang="zh-CN"/>
              <a:t>‹#›</a:t>
            </a:fld>
            <a:endParaRPr lang="en-US" altLang="zh-CN"/>
          </a:p>
        </p:txBody>
      </p:sp>
    </p:spTree>
    <p:extLst>
      <p:ext uri="{BB962C8B-B14F-4D97-AF65-F5344CB8AC3E}">
        <p14:creationId xmlns:p14="http://schemas.microsoft.com/office/powerpoint/2010/main" val="2161655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4B78C63D-0939-4A42-AB7C-79E534E0214D}" type="slidenum">
              <a:rPr lang="en-US" altLang="zh-CN"/>
              <a:t>‹#›</a:t>
            </a:fld>
            <a:endParaRPr lang="en-US" altLang="zh-CN"/>
          </a:p>
        </p:txBody>
      </p:sp>
    </p:spTree>
    <p:extLst>
      <p:ext uri="{BB962C8B-B14F-4D97-AF65-F5344CB8AC3E}">
        <p14:creationId xmlns:p14="http://schemas.microsoft.com/office/powerpoint/2010/main" val="3441445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625600" y="228600"/>
            <a:ext cx="9855200" cy="838200"/>
          </a:xfrm>
          <a:prstGeom prst="rect">
            <a:avLst/>
          </a:prstGeom>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0243CBC5-6344-4CDA-99D4-3DAB4358926C}" type="slidenum">
              <a:rPr lang="en-US" altLang="zh-CN"/>
              <a:t>‹#›</a:t>
            </a:fld>
            <a:endParaRPr lang="en-US" altLang="zh-CN"/>
          </a:p>
        </p:txBody>
      </p:sp>
    </p:spTree>
    <p:extLst>
      <p:ext uri="{BB962C8B-B14F-4D97-AF65-F5344CB8AC3E}">
        <p14:creationId xmlns:p14="http://schemas.microsoft.com/office/powerpoint/2010/main" val="22834927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78E274B8-6531-496D-AD25-EFA1BCDD3786}" type="slidenum">
              <a:rPr lang="en-US" altLang="zh-CN"/>
              <a:t>‹#›</a:t>
            </a:fld>
            <a:endParaRPr lang="en-US" altLang="zh-CN"/>
          </a:p>
        </p:txBody>
      </p:sp>
    </p:spTree>
    <p:extLst>
      <p:ext uri="{BB962C8B-B14F-4D97-AF65-F5344CB8AC3E}">
        <p14:creationId xmlns:p14="http://schemas.microsoft.com/office/powerpoint/2010/main" val="2536505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8D0B2581-8459-4652-9ADC-5DDA5CAC4B04}" type="slidenum">
              <a:rPr lang="en-US" altLang="zh-CN"/>
              <a:t>‹#›</a:t>
            </a:fld>
            <a:endParaRPr lang="en-US" altLang="zh-CN"/>
          </a:p>
        </p:txBody>
      </p:sp>
    </p:spTree>
    <p:extLst>
      <p:ext uri="{BB962C8B-B14F-4D97-AF65-F5344CB8AC3E}">
        <p14:creationId xmlns:p14="http://schemas.microsoft.com/office/powerpoint/2010/main" val="479677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68A9E372-A50D-4E06-ADE2-754D1C8F4A6D}" type="slidenum">
              <a:rPr lang="en-US" altLang="zh-CN"/>
              <a:t>‹#›</a:t>
            </a:fld>
            <a:endParaRPr lang="en-US" altLang="zh-CN"/>
          </a:p>
        </p:txBody>
      </p:sp>
    </p:spTree>
    <p:extLst>
      <p:ext uri="{BB962C8B-B14F-4D97-AF65-F5344CB8AC3E}">
        <p14:creationId xmlns:p14="http://schemas.microsoft.com/office/powerpoint/2010/main" val="2313647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1625600" y="228600"/>
            <a:ext cx="9855200" cy="8382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B7D498AE-6111-4E99-BE50-5A250692DB0D}" type="slidenum">
              <a:rPr lang="en-US" altLang="zh-CN"/>
              <a:t>‹#›</a:t>
            </a:fld>
            <a:endParaRPr lang="en-US" altLang="zh-CN"/>
          </a:p>
        </p:txBody>
      </p:sp>
    </p:spTree>
    <p:extLst>
      <p:ext uri="{BB962C8B-B14F-4D97-AF65-F5344CB8AC3E}">
        <p14:creationId xmlns:p14="http://schemas.microsoft.com/office/powerpoint/2010/main" val="3043495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28600"/>
            <a:ext cx="2743200" cy="6096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28600"/>
            <a:ext cx="8026400" cy="6096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053F396F-D19C-47DF-BAA0-E639B93B742E}" type="slidenum">
              <a:rPr lang="en-US" altLang="zh-CN"/>
              <a:t>‹#›</a:t>
            </a:fld>
            <a:endParaRPr lang="en-US" altLang="zh-CN"/>
          </a:p>
        </p:txBody>
      </p:sp>
    </p:spTree>
    <p:extLst>
      <p:ext uri="{BB962C8B-B14F-4D97-AF65-F5344CB8AC3E}">
        <p14:creationId xmlns:p14="http://schemas.microsoft.com/office/powerpoint/2010/main" val="26331585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0" y="5300664"/>
            <a:ext cx="12192000" cy="1557337"/>
          </a:xfrm>
          <a:prstGeom prst="rect">
            <a:avLst/>
          </a:prstGeom>
          <a:solidFill>
            <a:schemeClr val="bg1"/>
          </a:solidFill>
          <a:ln>
            <a:noFill/>
          </a:ln>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 name="标题 1"/>
          <p:cNvSpPr>
            <a:spLocks noGrp="1"/>
          </p:cNvSpPr>
          <p:nvPr>
            <p:ph type="title"/>
          </p:nvPr>
        </p:nvSpPr>
        <p:spPr>
          <a:xfrm>
            <a:off x="1625600" y="228600"/>
            <a:ext cx="9855200" cy="838200"/>
          </a:xfrm>
          <a:prstGeom prst="rect">
            <a:avLst/>
          </a:prstGeom>
        </p:spPr>
        <p:txBody>
          <a:bodyPr/>
          <a:lstStyle/>
          <a:p>
            <a:r>
              <a:rPr lang="zh-CN" altLang="en-US"/>
              <a:t>单击此处编辑母版标题样式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9AD90B1C-9064-44F1-8F3F-EFAC106B18F1}" type="slidenum">
              <a:rPr lang="en-US" altLang="zh-CN"/>
              <a:t>‹#›</a:t>
            </a:fld>
            <a:endParaRPr lang="en-US" altLang="zh-CN"/>
          </a:p>
        </p:txBody>
      </p:sp>
    </p:spTree>
    <p:extLst>
      <p:ext uri="{BB962C8B-B14F-4D97-AF65-F5344CB8AC3E}">
        <p14:creationId xmlns:p14="http://schemas.microsoft.com/office/powerpoint/2010/main" val="17153208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和图表">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0" y="5300664"/>
            <a:ext cx="12192000" cy="1557337"/>
          </a:xfrm>
          <a:prstGeom prst="rect">
            <a:avLst/>
          </a:prstGeom>
          <a:solidFill>
            <a:schemeClr val="bg1"/>
          </a:solidFill>
          <a:ln>
            <a:noFill/>
          </a:ln>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2" name="标题 1"/>
          <p:cNvSpPr>
            <a:spLocks noGrp="1"/>
          </p:cNvSpPr>
          <p:nvPr>
            <p:ph type="title"/>
          </p:nvPr>
        </p:nvSpPr>
        <p:spPr>
          <a:xfrm>
            <a:off x="1625600" y="228600"/>
            <a:ext cx="9855200" cy="838200"/>
          </a:xfrm>
          <a:prstGeom prst="rect">
            <a:avLst/>
          </a:prstGeom>
        </p:spPr>
        <p:txBody>
          <a:bodyPr/>
          <a:lstStyle/>
          <a:p>
            <a:r>
              <a:rPr lang="zh-CN" altLang="en-US"/>
              <a:t>单击此处编辑母版标题样式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E82E055B-47FA-4385-98E8-18E3BEDC74B7}" type="slidenum">
              <a:rPr lang="en-US" altLang="zh-CN"/>
              <a:t>‹#›</a:t>
            </a:fld>
            <a:endParaRPr lang="en-US" altLang="zh-CN"/>
          </a:p>
        </p:txBody>
      </p:sp>
    </p:spTree>
    <p:extLst>
      <p:ext uri="{BB962C8B-B14F-4D97-AF65-F5344CB8AC3E}">
        <p14:creationId xmlns:p14="http://schemas.microsoft.com/office/powerpoint/2010/main" val="35459244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5983486E-0D70-4C18-A2F0-4397F6D90280}" type="slidenum">
              <a:rPr lang="en-US" altLang="zh-CN"/>
              <a:t>‹#›</a:t>
            </a:fld>
            <a:endParaRPr lang="en-US" altLang="zh-CN"/>
          </a:p>
        </p:txBody>
      </p:sp>
    </p:spTree>
    <p:extLst>
      <p:ext uri="{BB962C8B-B14F-4D97-AF65-F5344CB8AC3E}">
        <p14:creationId xmlns:p14="http://schemas.microsoft.com/office/powerpoint/2010/main" val="19290245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1_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60E78857-B822-48B5-A725-F961E381E340}" type="slidenum">
              <a:rPr lang="en-US" altLang="zh-CN"/>
              <a:t>‹#›</a:t>
            </a:fld>
            <a:endParaRPr lang="en-US" altLang="zh-CN"/>
          </a:p>
        </p:txBody>
      </p:sp>
    </p:spTree>
    <p:extLst>
      <p:ext uri="{BB962C8B-B14F-4D97-AF65-F5344CB8AC3E}">
        <p14:creationId xmlns:p14="http://schemas.microsoft.com/office/powerpoint/2010/main" val="39691372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F858D1E-1C1A-4737-B087-916DFAA32AE3}" type="datetimeFigureOut">
              <a:rPr lang="zh-CN" altLang="en-US" smtClean="0"/>
              <a:t>2026/3/25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12EA05-09F7-4A8F-814E-E065B700FA03}" type="slidenum">
              <a:rPr lang="zh-CN" altLang="en-US" smtClean="0"/>
              <a:t>‹#›</a:t>
            </a:fld>
            <a:endParaRPr lang="zh-CN" altLang="en-US"/>
          </a:p>
        </p:txBody>
      </p:sp>
    </p:spTree>
    <p:extLst>
      <p:ext uri="{BB962C8B-B14F-4D97-AF65-F5344CB8AC3E}">
        <p14:creationId xmlns:p14="http://schemas.microsoft.com/office/powerpoint/2010/main" val="2102717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jpe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2026/3/25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0" name="Rectangle 26"/>
          <p:cNvSpPr>
            <a:spLocks noChangeArrowheads="1"/>
          </p:cNvSpPr>
          <p:nvPr/>
        </p:nvSpPr>
        <p:spPr bwMode="gray">
          <a:xfrm>
            <a:off x="0" y="228600"/>
            <a:ext cx="12192000" cy="838200"/>
          </a:xfrm>
          <a:prstGeom prst="rect">
            <a:avLst/>
          </a:prstGeom>
          <a:solidFill>
            <a:srgbClr val="007F82"/>
          </a:solidFill>
          <a:ln>
            <a:noFill/>
          </a:ln>
          <a:effectLst/>
        </p:spPr>
        <p:txBody>
          <a:bodyPr wrap="none" anchor="ctr"/>
          <a:lstStyle/>
          <a:p>
            <a:pPr eaLnBrk="1" hangingPunct="1">
              <a:defRPr/>
            </a:pPr>
            <a:endParaRPr lang="zh-CN" altLang="en-US">
              <a:latin typeface="Arial" panose="020B0604020202020204" pitchFamily="34" charset="0"/>
              <a:ea typeface="宋体" panose="02010600030101010101" pitchFamily="2" charset="-122"/>
            </a:endParaRPr>
          </a:p>
        </p:txBody>
      </p:sp>
      <p:sp>
        <p:nvSpPr>
          <p:cNvPr id="1028" name="Rectangle 4"/>
          <p:cNvSpPr>
            <a:spLocks noGrp="1" noChangeArrowheads="1"/>
          </p:cNvSpPr>
          <p:nvPr>
            <p:ph type="dt" sz="half" idx="2"/>
          </p:nvPr>
        </p:nvSpPr>
        <p:spPr bwMode="gray">
          <a:xfrm>
            <a:off x="609600" y="6467476"/>
            <a:ext cx="2844800" cy="301625"/>
          </a:xfrm>
          <a:prstGeom prst="rect">
            <a:avLst/>
          </a:prstGeom>
          <a:noFill/>
          <a:ln>
            <a:noFill/>
          </a:ln>
          <a:effectLst/>
        </p:spPr>
        <p:txBody>
          <a:bodyPr vert="horz" wrap="square" lIns="91440" tIns="45720" rIns="91440" bIns="45720" numCol="1" anchor="t" anchorCtr="0" compatLnSpc="1"/>
          <a:lstStyle>
            <a:lvl1pPr eaLnBrk="1" hangingPunct="1">
              <a:defRPr sz="1200" b="0">
                <a:latin typeface="+mn-lt"/>
                <a:ea typeface="宋体" panose="02010600030101010101" pitchFamily="2" charset="-122"/>
              </a:defRPr>
            </a:lvl1pPr>
          </a:lstStyle>
          <a:p>
            <a:pPr>
              <a:defRPr/>
            </a:pPr>
            <a:endParaRPr lang="en-US" altLang="zh-CN"/>
          </a:p>
        </p:txBody>
      </p:sp>
      <p:sp>
        <p:nvSpPr>
          <p:cNvPr id="1029" name="Rectangle 5"/>
          <p:cNvSpPr>
            <a:spLocks noGrp="1" noChangeArrowheads="1"/>
          </p:cNvSpPr>
          <p:nvPr>
            <p:ph type="ftr" sz="quarter" idx="3"/>
          </p:nvPr>
        </p:nvSpPr>
        <p:spPr bwMode="gray">
          <a:xfrm>
            <a:off x="4165600" y="6467476"/>
            <a:ext cx="3860800" cy="301625"/>
          </a:xfrm>
          <a:prstGeom prst="rect">
            <a:avLst/>
          </a:prstGeom>
          <a:noFill/>
          <a:ln>
            <a:noFill/>
          </a:ln>
          <a:effectLst/>
        </p:spPr>
        <p:txBody>
          <a:bodyPr vert="horz" wrap="square" lIns="91440" tIns="45720" rIns="91440" bIns="45720" numCol="1" anchor="t" anchorCtr="0" compatLnSpc="1"/>
          <a:lstStyle>
            <a:lvl1pPr algn="ctr" eaLnBrk="1" hangingPunct="1">
              <a:defRPr sz="1200" b="0">
                <a:latin typeface="+mn-lt"/>
                <a:ea typeface="宋体" panose="02010600030101010101" pitchFamily="2" charset="-122"/>
              </a:defRPr>
            </a:lvl1pPr>
          </a:lstStyle>
          <a:p>
            <a:pPr>
              <a:defRPr/>
            </a:pPr>
            <a:endParaRPr lang="en-US" altLang="zh-CN"/>
          </a:p>
        </p:txBody>
      </p:sp>
      <p:sp>
        <p:nvSpPr>
          <p:cNvPr id="1030" name="Rectangle 6"/>
          <p:cNvSpPr>
            <a:spLocks noGrp="1" noChangeArrowheads="1"/>
          </p:cNvSpPr>
          <p:nvPr>
            <p:ph type="sldNum" sz="quarter" idx="4"/>
          </p:nvPr>
        </p:nvSpPr>
        <p:spPr bwMode="gray">
          <a:xfrm>
            <a:off x="8737600" y="6467476"/>
            <a:ext cx="2844800" cy="301625"/>
          </a:xfrm>
          <a:prstGeom prst="rect">
            <a:avLst/>
          </a:prstGeom>
          <a:noFill/>
          <a:ln>
            <a:noFill/>
          </a:ln>
          <a:effectLst/>
        </p:spPr>
        <p:txBody>
          <a:bodyPr vert="horz" wrap="square" lIns="91440" tIns="45720" rIns="91440" bIns="45720" numCol="1" anchor="t" anchorCtr="0" compatLnSpc="1"/>
          <a:lstStyle>
            <a:lvl1pPr algn="r" eaLnBrk="1" hangingPunct="1">
              <a:defRPr sz="1200" b="0">
                <a:latin typeface="Calibri" panose="020F0502020204030204" pitchFamily="34" charset="0"/>
              </a:defRPr>
            </a:lvl1pPr>
          </a:lstStyle>
          <a:p>
            <a:fld id="{B2B4406F-7E4B-4BCD-AC01-8C2BCC5D9B62}" type="slidenum">
              <a:rPr lang="en-US" altLang="zh-CN"/>
              <a:t>‹#›</a:t>
            </a:fld>
            <a:endParaRPr lang="en-US" altLang="zh-CN"/>
          </a:p>
        </p:txBody>
      </p:sp>
      <p:sp>
        <p:nvSpPr>
          <p:cNvPr id="2" name="Rectangle 152"/>
          <p:cNvSpPr>
            <a:spLocks noChangeArrowheads="1"/>
          </p:cNvSpPr>
          <p:nvPr/>
        </p:nvSpPr>
        <p:spPr bwMode="gray">
          <a:xfrm>
            <a:off x="8818034" y="5918200"/>
            <a:ext cx="675217" cy="469900"/>
          </a:xfrm>
          <a:prstGeom prst="rect">
            <a:avLst/>
          </a:prstGeom>
          <a:solidFill>
            <a:schemeClr val="accent2">
              <a:alpha val="20000"/>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1" name="Rectangle 153"/>
          <p:cNvSpPr>
            <a:spLocks noChangeArrowheads="1"/>
          </p:cNvSpPr>
          <p:nvPr/>
        </p:nvSpPr>
        <p:spPr bwMode="gray">
          <a:xfrm>
            <a:off x="10172701"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2" name="Rectangle 154"/>
          <p:cNvSpPr>
            <a:spLocks noChangeArrowheads="1"/>
          </p:cNvSpPr>
          <p:nvPr/>
        </p:nvSpPr>
        <p:spPr bwMode="gray">
          <a:xfrm>
            <a:off x="9484784" y="5440364"/>
            <a:ext cx="677333"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3" name="Rectangle 155"/>
          <p:cNvSpPr>
            <a:spLocks noChangeArrowheads="1"/>
          </p:cNvSpPr>
          <p:nvPr/>
        </p:nvSpPr>
        <p:spPr bwMode="gray">
          <a:xfrm>
            <a:off x="11501968"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4" name="Rectangle 156"/>
          <p:cNvSpPr>
            <a:spLocks noChangeArrowheads="1"/>
          </p:cNvSpPr>
          <p:nvPr/>
        </p:nvSpPr>
        <p:spPr bwMode="gray">
          <a:xfrm>
            <a:off x="6100234"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5" name="Rectangle 157"/>
          <p:cNvSpPr>
            <a:spLocks noChangeArrowheads="1"/>
          </p:cNvSpPr>
          <p:nvPr/>
        </p:nvSpPr>
        <p:spPr bwMode="gray">
          <a:xfrm>
            <a:off x="7467601"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6" name="Rectangle 158"/>
          <p:cNvSpPr>
            <a:spLocks noChangeArrowheads="1"/>
          </p:cNvSpPr>
          <p:nvPr/>
        </p:nvSpPr>
        <p:spPr bwMode="gray">
          <a:xfrm>
            <a:off x="6777567" y="5440364"/>
            <a:ext cx="677333"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7" name="Rectangle 159"/>
          <p:cNvSpPr>
            <a:spLocks noChangeArrowheads="1"/>
          </p:cNvSpPr>
          <p:nvPr/>
        </p:nvSpPr>
        <p:spPr bwMode="gray">
          <a:xfrm>
            <a:off x="8130118" y="5440364"/>
            <a:ext cx="679449"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8" name="Rectangle 160"/>
          <p:cNvSpPr>
            <a:spLocks noChangeArrowheads="1"/>
          </p:cNvSpPr>
          <p:nvPr/>
        </p:nvSpPr>
        <p:spPr bwMode="gray">
          <a:xfrm>
            <a:off x="5425018" y="5440364"/>
            <a:ext cx="679449" cy="473075"/>
          </a:xfrm>
          <a:prstGeom prst="rect">
            <a:avLst/>
          </a:prstGeom>
          <a:solidFill>
            <a:schemeClr val="accent2">
              <a:alpha val="10196"/>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39" name="Rectangle 161"/>
          <p:cNvSpPr>
            <a:spLocks noChangeArrowheads="1"/>
          </p:cNvSpPr>
          <p:nvPr/>
        </p:nvSpPr>
        <p:spPr bwMode="gray">
          <a:xfrm>
            <a:off x="8807451" y="4972051"/>
            <a:ext cx="675216" cy="473075"/>
          </a:xfrm>
          <a:prstGeom prst="rect">
            <a:avLst/>
          </a:prstGeom>
          <a:solidFill>
            <a:srgbClr val="EAEAEA">
              <a:alpha val="5098"/>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0" name="Rectangle 162"/>
          <p:cNvSpPr>
            <a:spLocks noChangeArrowheads="1"/>
          </p:cNvSpPr>
          <p:nvPr/>
        </p:nvSpPr>
        <p:spPr bwMode="gray">
          <a:xfrm>
            <a:off x="10164234" y="4972051"/>
            <a:ext cx="675217" cy="473075"/>
          </a:xfrm>
          <a:prstGeom prst="rect">
            <a:avLst/>
          </a:prstGeom>
          <a:solidFill>
            <a:schemeClr val="accent2">
              <a:alpha val="5098"/>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1" name="Rectangle 163"/>
          <p:cNvSpPr>
            <a:spLocks noChangeArrowheads="1"/>
          </p:cNvSpPr>
          <p:nvPr/>
        </p:nvSpPr>
        <p:spPr bwMode="gray">
          <a:xfrm>
            <a:off x="11504084" y="4972051"/>
            <a:ext cx="677333" cy="473075"/>
          </a:xfrm>
          <a:prstGeom prst="rect">
            <a:avLst/>
          </a:prstGeom>
          <a:solidFill>
            <a:srgbClr val="EAEAEA">
              <a:alpha val="5098"/>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2" name="Rectangle 164"/>
          <p:cNvSpPr>
            <a:spLocks noChangeArrowheads="1"/>
          </p:cNvSpPr>
          <p:nvPr/>
        </p:nvSpPr>
        <p:spPr bwMode="gray">
          <a:xfrm>
            <a:off x="7467601" y="4972051"/>
            <a:ext cx="675217" cy="473075"/>
          </a:xfrm>
          <a:prstGeom prst="rect">
            <a:avLst/>
          </a:prstGeom>
          <a:solidFill>
            <a:schemeClr val="folHlink">
              <a:alpha val="5098"/>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3" name="Rectangle 165"/>
          <p:cNvSpPr>
            <a:spLocks noChangeArrowheads="1"/>
          </p:cNvSpPr>
          <p:nvPr/>
        </p:nvSpPr>
        <p:spPr bwMode="gray">
          <a:xfrm>
            <a:off x="10837334" y="6386514"/>
            <a:ext cx="675217" cy="471487"/>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4" name="Rectangle 166"/>
          <p:cNvSpPr>
            <a:spLocks noChangeArrowheads="1"/>
          </p:cNvSpPr>
          <p:nvPr/>
        </p:nvSpPr>
        <p:spPr bwMode="gray">
          <a:xfrm>
            <a:off x="6788151" y="6386514"/>
            <a:ext cx="677333" cy="471487"/>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5" name="Rectangle 167"/>
          <p:cNvSpPr>
            <a:spLocks noChangeArrowheads="1"/>
          </p:cNvSpPr>
          <p:nvPr/>
        </p:nvSpPr>
        <p:spPr bwMode="gray">
          <a:xfrm>
            <a:off x="8140700" y="6386514"/>
            <a:ext cx="677333" cy="471487"/>
          </a:xfrm>
          <a:prstGeom prst="rect">
            <a:avLst/>
          </a:prstGeom>
          <a:solidFill>
            <a:schemeClr val="folHlink">
              <a:alpha val="20000"/>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6" name="Rectangle 168"/>
          <p:cNvSpPr>
            <a:spLocks noChangeArrowheads="1"/>
          </p:cNvSpPr>
          <p:nvPr/>
        </p:nvSpPr>
        <p:spPr bwMode="gray">
          <a:xfrm>
            <a:off x="5425018" y="6386514"/>
            <a:ext cx="679449" cy="471487"/>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7" name="Rectangle 169"/>
          <p:cNvSpPr>
            <a:spLocks noChangeArrowheads="1"/>
          </p:cNvSpPr>
          <p:nvPr/>
        </p:nvSpPr>
        <p:spPr bwMode="gray">
          <a:xfrm>
            <a:off x="10818284" y="5440364"/>
            <a:ext cx="675216" cy="473075"/>
          </a:xfrm>
          <a:prstGeom prst="rect">
            <a:avLst/>
          </a:prstGeom>
          <a:solidFill>
            <a:schemeClr val="folHlink">
              <a:alpha val="10196"/>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8" name="Rectangle 170"/>
          <p:cNvSpPr>
            <a:spLocks noChangeArrowheads="1"/>
          </p:cNvSpPr>
          <p:nvPr/>
        </p:nvSpPr>
        <p:spPr bwMode="gray">
          <a:xfrm>
            <a:off x="6100234" y="4965700"/>
            <a:ext cx="675217" cy="469900"/>
          </a:xfrm>
          <a:prstGeom prst="rect">
            <a:avLst/>
          </a:prstGeom>
          <a:solidFill>
            <a:srgbClr val="DDDDDD">
              <a:alpha val="5098"/>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49" name="Rectangle 171"/>
          <p:cNvSpPr>
            <a:spLocks noChangeArrowheads="1"/>
          </p:cNvSpPr>
          <p:nvPr/>
        </p:nvSpPr>
        <p:spPr bwMode="gray">
          <a:xfrm>
            <a:off x="9484784" y="6384925"/>
            <a:ext cx="677333" cy="471488"/>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3" name="Rectangle 173"/>
          <p:cNvSpPr>
            <a:spLocks noChangeArrowheads="1"/>
          </p:cNvSpPr>
          <p:nvPr/>
        </p:nvSpPr>
        <p:spPr bwMode="gray">
          <a:xfrm>
            <a:off x="4741334"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1" name="Rectangle 174"/>
          <p:cNvSpPr>
            <a:spLocks noChangeArrowheads="1"/>
          </p:cNvSpPr>
          <p:nvPr/>
        </p:nvSpPr>
        <p:spPr bwMode="gray">
          <a:xfrm>
            <a:off x="4051301" y="5440364"/>
            <a:ext cx="675217"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2" name="Rectangle 176"/>
          <p:cNvSpPr>
            <a:spLocks noChangeArrowheads="1"/>
          </p:cNvSpPr>
          <p:nvPr/>
        </p:nvSpPr>
        <p:spPr bwMode="gray">
          <a:xfrm>
            <a:off x="4741334" y="4972051"/>
            <a:ext cx="675217" cy="473075"/>
          </a:xfrm>
          <a:prstGeom prst="rect">
            <a:avLst/>
          </a:prstGeom>
          <a:solidFill>
            <a:schemeClr val="folHlink">
              <a:alpha val="5098"/>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3" name="Rectangle 177"/>
          <p:cNvSpPr>
            <a:spLocks noChangeArrowheads="1"/>
          </p:cNvSpPr>
          <p:nvPr/>
        </p:nvSpPr>
        <p:spPr bwMode="gray">
          <a:xfrm>
            <a:off x="4061884" y="6386514"/>
            <a:ext cx="677333" cy="471487"/>
          </a:xfrm>
          <a:prstGeom prst="rect">
            <a:avLst/>
          </a:prstGeom>
          <a:solidFill>
            <a:schemeClr val="folHlink">
              <a:alpha val="20000"/>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4" name="Rectangle 181"/>
          <p:cNvSpPr>
            <a:spLocks noChangeArrowheads="1"/>
          </p:cNvSpPr>
          <p:nvPr/>
        </p:nvSpPr>
        <p:spPr bwMode="gray">
          <a:xfrm>
            <a:off x="2032001" y="5918200"/>
            <a:ext cx="675217" cy="469900"/>
          </a:xfrm>
          <a:prstGeom prst="rect">
            <a:avLst/>
          </a:prstGeom>
          <a:solidFill>
            <a:schemeClr val="accent2">
              <a:alpha val="20000"/>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5" name="Rectangle 182"/>
          <p:cNvSpPr>
            <a:spLocks noChangeArrowheads="1"/>
          </p:cNvSpPr>
          <p:nvPr/>
        </p:nvSpPr>
        <p:spPr bwMode="gray">
          <a:xfrm>
            <a:off x="3386668"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6" name="Rectangle 183"/>
          <p:cNvSpPr>
            <a:spLocks noChangeArrowheads="1"/>
          </p:cNvSpPr>
          <p:nvPr/>
        </p:nvSpPr>
        <p:spPr bwMode="gray">
          <a:xfrm>
            <a:off x="2698751" y="5440364"/>
            <a:ext cx="675216"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7" name="Rectangle 184"/>
          <p:cNvSpPr>
            <a:spLocks noChangeArrowheads="1"/>
          </p:cNvSpPr>
          <p:nvPr/>
        </p:nvSpPr>
        <p:spPr bwMode="gray">
          <a:xfrm>
            <a:off x="681568" y="5918200"/>
            <a:ext cx="675217" cy="469900"/>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8" name="Rectangle 185"/>
          <p:cNvSpPr>
            <a:spLocks noChangeArrowheads="1"/>
          </p:cNvSpPr>
          <p:nvPr/>
        </p:nvSpPr>
        <p:spPr bwMode="gray">
          <a:xfrm>
            <a:off x="6351" y="5440364"/>
            <a:ext cx="675216"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59" name="Rectangle 186"/>
          <p:cNvSpPr>
            <a:spLocks noChangeArrowheads="1"/>
          </p:cNvSpPr>
          <p:nvPr/>
        </p:nvSpPr>
        <p:spPr bwMode="gray">
          <a:xfrm>
            <a:off x="1344084" y="5440364"/>
            <a:ext cx="677333" cy="473075"/>
          </a:xfrm>
          <a:prstGeom prst="rect">
            <a:avLst/>
          </a:prstGeom>
          <a:solidFill>
            <a:srgbClr val="DDDDDD">
              <a:alpha val="10196"/>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0" name="Rectangle 187"/>
          <p:cNvSpPr>
            <a:spLocks noChangeArrowheads="1"/>
          </p:cNvSpPr>
          <p:nvPr/>
        </p:nvSpPr>
        <p:spPr bwMode="gray">
          <a:xfrm>
            <a:off x="2019300" y="4972051"/>
            <a:ext cx="677333" cy="473075"/>
          </a:xfrm>
          <a:prstGeom prst="rect">
            <a:avLst/>
          </a:prstGeom>
          <a:solidFill>
            <a:srgbClr val="EAEAEA">
              <a:alpha val="5098"/>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1" name="Rectangle 188"/>
          <p:cNvSpPr>
            <a:spLocks noChangeArrowheads="1"/>
          </p:cNvSpPr>
          <p:nvPr/>
        </p:nvSpPr>
        <p:spPr bwMode="gray">
          <a:xfrm>
            <a:off x="3376084" y="4972051"/>
            <a:ext cx="677333" cy="473075"/>
          </a:xfrm>
          <a:prstGeom prst="rect">
            <a:avLst/>
          </a:prstGeom>
          <a:solidFill>
            <a:srgbClr val="EAEAEA">
              <a:alpha val="5098"/>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2" name="Rectangle 189"/>
          <p:cNvSpPr>
            <a:spLocks noChangeArrowheads="1"/>
          </p:cNvSpPr>
          <p:nvPr/>
        </p:nvSpPr>
        <p:spPr bwMode="gray">
          <a:xfrm>
            <a:off x="681568" y="4972051"/>
            <a:ext cx="675217" cy="473075"/>
          </a:xfrm>
          <a:prstGeom prst="rect">
            <a:avLst/>
          </a:prstGeom>
          <a:solidFill>
            <a:schemeClr val="folHlink">
              <a:alpha val="5098"/>
            </a:scheme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3" name="Rectangle 190"/>
          <p:cNvSpPr>
            <a:spLocks noChangeArrowheads="1"/>
          </p:cNvSpPr>
          <p:nvPr/>
        </p:nvSpPr>
        <p:spPr bwMode="gray">
          <a:xfrm>
            <a:off x="16934" y="6386514"/>
            <a:ext cx="677333" cy="471487"/>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4" name="Rectangle 191"/>
          <p:cNvSpPr>
            <a:spLocks noChangeArrowheads="1"/>
          </p:cNvSpPr>
          <p:nvPr/>
        </p:nvSpPr>
        <p:spPr bwMode="gray">
          <a:xfrm>
            <a:off x="1354667" y="6386514"/>
            <a:ext cx="677333" cy="471487"/>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65" name="Rectangle 192"/>
          <p:cNvSpPr>
            <a:spLocks noChangeArrowheads="1"/>
          </p:cNvSpPr>
          <p:nvPr/>
        </p:nvSpPr>
        <p:spPr bwMode="gray">
          <a:xfrm>
            <a:off x="2698751" y="6384925"/>
            <a:ext cx="675216" cy="471488"/>
          </a:xfrm>
          <a:prstGeom prst="rect">
            <a:avLst/>
          </a:prstGeom>
          <a:solidFill>
            <a:srgbClr val="DDDDDD">
              <a:alpha val="20000"/>
            </a:srgbClr>
          </a:solidFill>
          <a:ln w="9525">
            <a:solidFill>
              <a:srgbClr val="DDDDDD">
                <a:alpha val="59999"/>
              </a:srgbClr>
            </a:solidFill>
            <a:miter lim="800000"/>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218" name="Rectangle 194"/>
          <p:cNvSpPr>
            <a:spLocks noChangeArrowheads="1"/>
          </p:cNvSpPr>
          <p:nvPr/>
        </p:nvSpPr>
        <p:spPr bwMode="gray">
          <a:xfrm>
            <a:off x="0" y="4908551"/>
            <a:ext cx="12192000" cy="1477963"/>
          </a:xfrm>
          <a:prstGeom prst="rect">
            <a:avLst/>
          </a:prstGeom>
          <a:gradFill rotWithShape="1">
            <a:gsLst>
              <a:gs pos="0">
                <a:schemeClr val="bg1">
                  <a:alpha val="89999"/>
                </a:schemeClr>
              </a:gs>
              <a:gs pos="100000">
                <a:schemeClr val="bg1">
                  <a:gamma/>
                  <a:tint val="0"/>
                  <a:invGamma/>
                  <a:alpha val="0"/>
                </a:schemeClr>
              </a:gs>
            </a:gsLst>
            <a:lin ang="5400000" scaled="1"/>
          </a:gradFill>
          <a:ln>
            <a:noFill/>
          </a:ln>
          <a:effectLst/>
        </p:spPr>
        <p:txBody>
          <a:bodyPr wrap="none" anchor="ctr"/>
          <a:lstStyle/>
          <a:p>
            <a:pPr eaLnBrk="1" hangingPunct="1">
              <a:defRPr/>
            </a:pPr>
            <a:endParaRPr lang="zh-CN" altLang="en-US">
              <a:latin typeface="Arial" panose="020B0604020202020204" pitchFamily="34" charset="0"/>
              <a:ea typeface="宋体" panose="02010600030101010101" pitchFamily="2" charset="-122"/>
            </a:endParaRPr>
          </a:p>
        </p:txBody>
      </p:sp>
      <p:sp>
        <p:nvSpPr>
          <p:cNvPr id="1067" name="Rectangle 3"/>
          <p:cNvSpPr>
            <a:spLocks noGrp="1" noChangeArrowheads="1"/>
          </p:cNvSpPr>
          <p:nvPr>
            <p:ph type="body" idx="1"/>
          </p:nvPr>
        </p:nvSpPr>
        <p:spPr bwMode="gray">
          <a:xfrm>
            <a:off x="609600" y="1600200"/>
            <a:ext cx="10972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71" name="矩形 50"/>
          <p:cNvSpPr>
            <a:spLocks noChangeArrowheads="1"/>
          </p:cNvSpPr>
          <p:nvPr/>
        </p:nvSpPr>
        <p:spPr bwMode="auto">
          <a:xfrm>
            <a:off x="0" y="5300664"/>
            <a:ext cx="12192000" cy="1557337"/>
          </a:xfrm>
          <a:prstGeom prst="rect">
            <a:avLst/>
          </a:prstGeom>
          <a:solidFill>
            <a:schemeClr val="bg1"/>
          </a:solidFill>
          <a:ln>
            <a:noFill/>
          </a:ln>
        </p:spPr>
        <p:txBody>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pic>
        <p:nvPicPr>
          <p:cNvPr id="1069" name="Picture 14" descr="http://blog.wired.com/photos/uncategorized/2008/02/12/satellite.jpg"/>
          <p:cNvPicPr>
            <a:picLocks noChangeAspect="1" noChangeArrowheads="1"/>
          </p:cNvPicPr>
          <p:nvPr userDrawn="1"/>
        </p:nvPicPr>
        <p:blipFill>
          <a:blip r:embed="rId18" cstate="email">
            <a:extLst>
              <a:ext uri="{28A0092B-C50C-407E-A947-70E740481C1C}">
                <a14:useLocalDpi xmlns:a14="http://schemas.microsoft.com/office/drawing/2010/main" val="0"/>
              </a:ext>
            </a:extLst>
          </a:blip>
          <a:srcRect b="12582"/>
          <a:stretch>
            <a:fillRect/>
          </a:stretch>
        </p:blipFill>
        <p:spPr bwMode="auto">
          <a:xfrm>
            <a:off x="-4233" y="228601"/>
            <a:ext cx="1684867"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0" name="图片 14"/>
          <p:cNvPicPr>
            <a:picLocks noChangeAspect="1" noChangeArrowheads="1"/>
          </p:cNvPicPr>
          <p:nvPr userDrawn="1"/>
        </p:nvPicPr>
        <p:blipFill>
          <a:blip r:embed="rId19" cstate="email">
            <a:extLst>
              <a:ext uri="{28A0092B-C50C-407E-A947-70E740481C1C}">
                <a14:useLocalDpi xmlns:a14="http://schemas.microsoft.com/office/drawing/2010/main" val="0"/>
              </a:ext>
            </a:extLst>
          </a:blip>
          <a:srcRect l="39586" t="26570" r="5353" b="14748"/>
          <a:stretch>
            <a:fillRect/>
          </a:stretch>
        </p:blipFill>
        <p:spPr bwMode="auto">
          <a:xfrm>
            <a:off x="0" y="228600"/>
            <a:ext cx="1763184"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514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rtl="0" eaLnBrk="0" fontAlgn="base" hangingPunct="0">
        <a:spcBef>
          <a:spcPct val="0"/>
        </a:spcBef>
        <a:spcAft>
          <a:spcPct val="0"/>
        </a:spcAft>
        <a:defRPr sz="3600" b="1">
          <a:solidFill>
            <a:srgbClr val="FFFFFF"/>
          </a:solidFill>
          <a:latin typeface="+mj-lt"/>
          <a:ea typeface="+mj-ea"/>
          <a:cs typeface="+mj-cs"/>
        </a:defRPr>
      </a:lvl1pPr>
      <a:lvl2pPr algn="l" rtl="0" eaLnBrk="0" fontAlgn="base" hangingPunct="0">
        <a:spcBef>
          <a:spcPct val="0"/>
        </a:spcBef>
        <a:spcAft>
          <a:spcPct val="0"/>
        </a:spcAft>
        <a:defRPr sz="3600" b="1">
          <a:solidFill>
            <a:srgbClr val="FFFFFF"/>
          </a:solidFill>
          <a:latin typeface="Arial" panose="020B0604020202020204" pitchFamily="34" charset="0"/>
        </a:defRPr>
      </a:lvl2pPr>
      <a:lvl3pPr algn="l" rtl="0" eaLnBrk="0" fontAlgn="base" hangingPunct="0">
        <a:spcBef>
          <a:spcPct val="0"/>
        </a:spcBef>
        <a:spcAft>
          <a:spcPct val="0"/>
        </a:spcAft>
        <a:defRPr sz="3600" b="1">
          <a:solidFill>
            <a:srgbClr val="FFFFFF"/>
          </a:solidFill>
          <a:latin typeface="Arial" panose="020B0604020202020204" pitchFamily="34" charset="0"/>
        </a:defRPr>
      </a:lvl3pPr>
      <a:lvl4pPr algn="l" rtl="0" eaLnBrk="0" fontAlgn="base" hangingPunct="0">
        <a:spcBef>
          <a:spcPct val="0"/>
        </a:spcBef>
        <a:spcAft>
          <a:spcPct val="0"/>
        </a:spcAft>
        <a:defRPr sz="3600" b="1">
          <a:solidFill>
            <a:srgbClr val="FFFFFF"/>
          </a:solidFill>
          <a:latin typeface="Arial" panose="020B0604020202020204" pitchFamily="34" charset="0"/>
        </a:defRPr>
      </a:lvl4pPr>
      <a:lvl5pPr algn="l" rtl="0" eaLnBrk="0" fontAlgn="base" hangingPunct="0">
        <a:spcBef>
          <a:spcPct val="0"/>
        </a:spcBef>
        <a:spcAft>
          <a:spcPct val="0"/>
        </a:spcAft>
        <a:defRPr sz="3600" b="1">
          <a:solidFill>
            <a:srgbClr val="FFFFFF"/>
          </a:solidFill>
          <a:latin typeface="Arial" panose="020B0604020202020204" pitchFamily="34" charset="0"/>
        </a:defRPr>
      </a:lvl5pPr>
      <a:lvl6pPr marL="457200" algn="l" rtl="0" eaLnBrk="1" fontAlgn="base" hangingPunct="1">
        <a:spcBef>
          <a:spcPct val="0"/>
        </a:spcBef>
        <a:spcAft>
          <a:spcPct val="0"/>
        </a:spcAft>
        <a:defRPr sz="3600" b="1">
          <a:solidFill>
            <a:srgbClr val="FFFFFF"/>
          </a:solidFill>
          <a:latin typeface="Arial" panose="020B0604020202020204" pitchFamily="34" charset="0"/>
        </a:defRPr>
      </a:lvl6pPr>
      <a:lvl7pPr marL="914400" algn="l" rtl="0" eaLnBrk="1" fontAlgn="base" hangingPunct="1">
        <a:spcBef>
          <a:spcPct val="0"/>
        </a:spcBef>
        <a:spcAft>
          <a:spcPct val="0"/>
        </a:spcAft>
        <a:defRPr sz="3600" b="1">
          <a:solidFill>
            <a:srgbClr val="FFFFFF"/>
          </a:solidFill>
          <a:latin typeface="Arial" panose="020B0604020202020204" pitchFamily="34" charset="0"/>
        </a:defRPr>
      </a:lvl7pPr>
      <a:lvl8pPr marL="1371600" algn="l" rtl="0" eaLnBrk="1" fontAlgn="base" hangingPunct="1">
        <a:spcBef>
          <a:spcPct val="0"/>
        </a:spcBef>
        <a:spcAft>
          <a:spcPct val="0"/>
        </a:spcAft>
        <a:defRPr sz="3600" b="1">
          <a:solidFill>
            <a:srgbClr val="FFFFFF"/>
          </a:solidFill>
          <a:latin typeface="Arial" panose="020B0604020202020204" pitchFamily="34" charset="0"/>
        </a:defRPr>
      </a:lvl8pPr>
      <a:lvl9pPr marL="1828800" algn="l" rtl="0" eaLnBrk="1" fontAlgn="base" hangingPunct="1">
        <a:spcBef>
          <a:spcPct val="0"/>
        </a:spcBef>
        <a:spcAft>
          <a:spcPct val="0"/>
        </a:spcAft>
        <a:defRPr sz="3600" b="1">
          <a:solidFill>
            <a:srgbClr val="FFFFFF"/>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关于我们"/>
          <p:cNvSpPr/>
          <p:nvPr/>
        </p:nvSpPr>
        <p:spPr>
          <a:xfrm>
            <a:off x="1548078" y="324588"/>
            <a:ext cx="10410458" cy="645160"/>
          </a:xfrm>
          <a:prstGeom prst="rect">
            <a:avLst/>
          </a:prstGeom>
        </p:spPr>
        <p:txBody>
          <a:bodyPr wrap="square">
            <a:sp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zh-CN" altLang="en-US" sz="36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三、子课题重要研究进展、成果</a:t>
            </a:r>
          </a:p>
        </p:txBody>
      </p:sp>
      <p:sp>
        <p:nvSpPr>
          <p:cNvPr id="21" name="文本框 20"/>
          <p:cNvSpPr txBox="1"/>
          <p:nvPr/>
        </p:nvSpPr>
        <p:spPr>
          <a:xfrm>
            <a:off x="178722" y="1252041"/>
            <a:ext cx="7268336"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1</a:t>
            </a: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、初步构建松嫩平原黑土区耕地质量演变预测和产量估测模型</a:t>
            </a:r>
          </a:p>
        </p:txBody>
      </p:sp>
      <p:sp>
        <p:nvSpPr>
          <p:cNvPr id="40" name="灯片编号占位符 18"/>
          <p:cNvSpPr>
            <a:spLocks noGrp="1"/>
          </p:cNvSpPr>
          <p:nvPr>
            <p:ph type="sldNum" sz="quarter" idx="12"/>
          </p:nvPr>
        </p:nvSpPr>
        <p:spPr>
          <a:xfrm>
            <a:off x="9064625" y="6360795"/>
            <a:ext cx="2844800" cy="29273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83486E-0D70-4C18-A2F0-4397F6D90280}" type="slidenum">
              <a:rPr kumimoji="0" lang="en-US" altLang="zh-CN" sz="1800" b="1" i="0" u="none" strike="noStrike" kern="1200" cap="none" spc="0" normalizeH="0" baseline="0" noProof="0">
                <a:ln>
                  <a:noFill/>
                </a:ln>
                <a:solidFill>
                  <a:srgbClr val="000000"/>
                </a:solidFill>
                <a:effectLst/>
                <a:uLnTx/>
                <a:uFillTx/>
                <a:latin typeface="Calibri" panose="020F050202020403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800" b="1"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pic>
        <p:nvPicPr>
          <p:cNvPr id="4" name="图片 3">
            <a:extLst>
              <a:ext uri="{FF2B5EF4-FFF2-40B4-BE49-F238E27FC236}">
                <a16:creationId xmlns:a16="http://schemas.microsoft.com/office/drawing/2014/main" id="{F14EC518-6B14-5ADA-C333-4A80C3D0F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73389" y="1453240"/>
            <a:ext cx="4209857" cy="2368970"/>
          </a:xfrm>
          <a:prstGeom prst="rect">
            <a:avLst/>
          </a:prstGeom>
        </p:spPr>
      </p:pic>
      <p:pic>
        <p:nvPicPr>
          <p:cNvPr id="42" name="图片 41">
            <a:extLst>
              <a:ext uri="{FF2B5EF4-FFF2-40B4-BE49-F238E27FC236}">
                <a16:creationId xmlns:a16="http://schemas.microsoft.com/office/drawing/2014/main" id="{CCF711DA-D2C7-B453-801C-C34981D457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8308" y="3960708"/>
            <a:ext cx="4209859" cy="2368970"/>
          </a:xfrm>
          <a:prstGeom prst="rect">
            <a:avLst/>
          </a:prstGeom>
        </p:spPr>
      </p:pic>
      <p:sp>
        <p:nvSpPr>
          <p:cNvPr id="38" name="文本框 8"/>
          <p:cNvSpPr txBox="1"/>
          <p:nvPr/>
        </p:nvSpPr>
        <p:spPr>
          <a:xfrm>
            <a:off x="8019942" y="3671462"/>
            <a:ext cx="4024739" cy="338554"/>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耕地质量（以土壤有机碳为指标）评价</a:t>
            </a:r>
          </a:p>
        </p:txBody>
      </p:sp>
      <p:sp>
        <p:nvSpPr>
          <p:cNvPr id="39" name="文本框 8"/>
          <p:cNvSpPr txBox="1"/>
          <p:nvPr/>
        </p:nvSpPr>
        <p:spPr>
          <a:xfrm>
            <a:off x="9218505" y="6201127"/>
            <a:ext cx="1938756" cy="338554"/>
          </a:xfrm>
          <a:prstGeom prst="rect">
            <a:avLst/>
          </a:prstGeom>
          <a:noFill/>
          <a:effectLst/>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产量估算结果</a:t>
            </a:r>
          </a:p>
        </p:txBody>
      </p:sp>
      <p:grpSp>
        <p:nvGrpSpPr>
          <p:cNvPr id="70" name="组合 69">
            <a:extLst>
              <a:ext uri="{FF2B5EF4-FFF2-40B4-BE49-F238E27FC236}">
                <a16:creationId xmlns:a16="http://schemas.microsoft.com/office/drawing/2014/main" id="{2AFB9F4E-4833-B770-2DEF-2F7B128D11B3}"/>
              </a:ext>
            </a:extLst>
          </p:cNvPr>
          <p:cNvGrpSpPr/>
          <p:nvPr/>
        </p:nvGrpSpPr>
        <p:grpSpPr>
          <a:xfrm>
            <a:off x="4390308" y="3477741"/>
            <a:ext cx="3478000" cy="2883054"/>
            <a:chOff x="4460442" y="3624108"/>
            <a:chExt cx="3478000" cy="2883054"/>
          </a:xfrm>
        </p:grpSpPr>
        <p:grpSp>
          <p:nvGrpSpPr>
            <p:cNvPr id="68" name="组合 67">
              <a:extLst>
                <a:ext uri="{FF2B5EF4-FFF2-40B4-BE49-F238E27FC236}">
                  <a16:creationId xmlns:a16="http://schemas.microsoft.com/office/drawing/2014/main" id="{F93DD776-6AFA-7B5A-D0E1-9F852C161348}"/>
                </a:ext>
              </a:extLst>
            </p:cNvPr>
            <p:cNvGrpSpPr/>
            <p:nvPr/>
          </p:nvGrpSpPr>
          <p:grpSpPr>
            <a:xfrm>
              <a:off x="6541387" y="4593042"/>
              <a:ext cx="307473" cy="1148472"/>
              <a:chOff x="6541387" y="4779127"/>
              <a:chExt cx="307473" cy="718476"/>
            </a:xfrm>
          </p:grpSpPr>
          <p:cxnSp>
            <p:nvCxnSpPr>
              <p:cNvPr id="35" name="直接箭头连接符 34"/>
              <p:cNvCxnSpPr>
                <a:cxnSpLocks/>
              </p:cNvCxnSpPr>
              <p:nvPr/>
            </p:nvCxnSpPr>
            <p:spPr bwMode="auto">
              <a:xfrm>
                <a:off x="6541387" y="4779127"/>
                <a:ext cx="0" cy="656516"/>
              </a:xfrm>
              <a:prstGeom prst="straightConnector1">
                <a:avLst/>
              </a:prstGeom>
              <a:ln w="44450">
                <a:solidFill>
                  <a:srgbClr val="0070C0"/>
                </a:solidFill>
                <a:prstDash val="sysDash"/>
                <a:headEnd type="stealth" w="lg" len="lg"/>
                <a:tailEnd type="oval" w="med" len="med"/>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cxnSpLocks/>
              </p:cNvCxnSpPr>
              <p:nvPr/>
            </p:nvCxnSpPr>
            <p:spPr bwMode="auto">
              <a:xfrm flipV="1">
                <a:off x="6848860" y="4836887"/>
                <a:ext cx="0" cy="660716"/>
              </a:xfrm>
              <a:prstGeom prst="straightConnector1">
                <a:avLst/>
              </a:prstGeom>
              <a:ln w="44450">
                <a:solidFill>
                  <a:srgbClr val="0070C0"/>
                </a:solidFill>
                <a:prstDash val="sysDash"/>
                <a:headEnd type="stealth" w="lg" len="lg"/>
                <a:tailEnd type="oval" w="med" len="med"/>
              </a:ln>
            </p:spPr>
            <p:style>
              <a:lnRef idx="1">
                <a:schemeClr val="accent1"/>
              </a:lnRef>
              <a:fillRef idx="0">
                <a:schemeClr val="accent1"/>
              </a:fillRef>
              <a:effectRef idx="0">
                <a:schemeClr val="accent1"/>
              </a:effectRef>
              <a:fontRef idx="minor">
                <a:schemeClr val="tx1"/>
              </a:fontRef>
            </p:style>
          </p:cxnSp>
        </p:grpSp>
        <p:pic>
          <p:nvPicPr>
            <p:cNvPr id="30" name="图片 29"/>
            <p:cNvPicPr>
              <a:picLocks noChangeAspect="1"/>
            </p:cNvPicPr>
            <p:nvPr/>
          </p:nvPicPr>
          <p:blipFill>
            <a:blip r:embed="rId5"/>
            <a:srcRect l="13000" t="16142" r="13165" b="18513"/>
            <a:stretch>
              <a:fillRect/>
            </a:stretch>
          </p:blipFill>
          <p:spPr>
            <a:xfrm>
              <a:off x="4460442" y="3624108"/>
              <a:ext cx="1220305" cy="1080000"/>
            </a:xfrm>
            <a:prstGeom prst="rect">
              <a:avLst/>
            </a:prstGeom>
          </p:spPr>
        </p:pic>
        <p:pic>
          <p:nvPicPr>
            <p:cNvPr id="31" name="图片 30"/>
            <p:cNvPicPr>
              <a:picLocks noChangeAspect="1"/>
            </p:cNvPicPr>
            <p:nvPr/>
          </p:nvPicPr>
          <p:blipFill>
            <a:blip r:embed="rId6"/>
            <a:srcRect b="13659"/>
            <a:stretch>
              <a:fillRect/>
            </a:stretch>
          </p:blipFill>
          <p:spPr>
            <a:xfrm>
              <a:off x="4529630" y="5486459"/>
              <a:ext cx="1321512" cy="1020703"/>
            </a:xfrm>
            <a:prstGeom prst="rect">
              <a:avLst/>
            </a:prstGeom>
          </p:spPr>
        </p:pic>
        <p:sp>
          <p:nvSpPr>
            <p:cNvPr id="32" name="文本框 31"/>
            <p:cNvSpPr txBox="1"/>
            <p:nvPr/>
          </p:nvSpPr>
          <p:spPr>
            <a:xfrm>
              <a:off x="5563269" y="5741516"/>
              <a:ext cx="237517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基于</a:t>
              </a:r>
              <a:r>
                <a:rPr kumimoji="0" lang="en-US" altLang="zh-CN" sz="2000" b="1" i="0" u="none" strike="noStrike" kern="1200" cap="none" spc="0" normalizeH="0" baseline="0" noProof="0" dirty="0">
                  <a:ln>
                    <a:noFill/>
                  </a:ln>
                  <a:solidFill>
                    <a:srgbClr val="000000"/>
                  </a:solidFill>
                  <a:effectLst/>
                  <a:uLnTx/>
                  <a:uFillTx/>
                  <a:latin typeface="Calibri"/>
                  <a:ea typeface="+mn-ea"/>
                  <a:cs typeface="+mn-cs"/>
                </a:rPr>
                <a:t>GWR</a:t>
              </a: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的粮食</a:t>
              </a:r>
              <a:endParaRPr kumimoji="0" lang="en-US" altLang="zh-CN" sz="2000" b="1" i="0" u="none" strike="noStrike" kern="1200" cap="none" spc="0" normalizeH="0" baseline="0" noProof="0" dirty="0">
                <a:ln>
                  <a:noFill/>
                </a:ln>
                <a:solidFill>
                  <a:srgbClr val="000000"/>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Calibri"/>
                  <a:ea typeface="+mn-ea"/>
                  <a:cs typeface="+mn-cs"/>
                </a:rPr>
                <a:t>产量估测</a:t>
              </a: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模型</a:t>
              </a:r>
            </a:p>
          </p:txBody>
        </p:sp>
        <p:sp>
          <p:nvSpPr>
            <p:cNvPr id="33" name="文本框 32"/>
            <p:cNvSpPr txBox="1"/>
            <p:nvPr/>
          </p:nvSpPr>
          <p:spPr>
            <a:xfrm>
              <a:off x="5563269" y="3885158"/>
              <a:ext cx="2348436"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  基于</a:t>
              </a:r>
              <a:r>
                <a:rPr kumimoji="0" lang="en-US" altLang="zh-CN" sz="2000" b="1" i="0" u="none" strike="noStrike" kern="1200" cap="none" spc="0" normalizeH="0" baseline="0" noProof="0" dirty="0">
                  <a:ln>
                    <a:noFill/>
                  </a:ln>
                  <a:solidFill>
                    <a:srgbClr val="000000"/>
                  </a:solidFill>
                  <a:effectLst/>
                  <a:uLnTx/>
                  <a:uFillTx/>
                  <a:latin typeface="Calibri"/>
                  <a:ea typeface="+mn-ea"/>
                  <a:cs typeface="+mn-cs"/>
                </a:rPr>
                <a:t>RF</a:t>
              </a: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的</a:t>
              </a:r>
              <a:r>
                <a:rPr kumimoji="0" lang="zh-CN" altLang="en-US" sz="2000" b="1" i="0" u="none" strike="noStrike" kern="1200" cap="none" spc="0" normalizeH="0" baseline="0" noProof="0" dirty="0">
                  <a:ln>
                    <a:noFill/>
                  </a:ln>
                  <a:solidFill>
                    <a:srgbClr val="0070C0"/>
                  </a:solidFill>
                  <a:effectLst/>
                  <a:uLnTx/>
                  <a:uFillTx/>
                  <a:latin typeface="Calibri"/>
                  <a:ea typeface="+mn-ea"/>
                  <a:cs typeface="+mn-cs"/>
                </a:rPr>
                <a:t>耕地质量</a:t>
              </a:r>
              <a:endParaRPr kumimoji="0" lang="en-US" altLang="zh-CN" sz="2000" b="1" i="0" u="none" strike="noStrike" kern="1200" cap="none" spc="0" normalizeH="0" baseline="0" noProof="0" dirty="0">
                <a:ln>
                  <a:noFill/>
                </a:ln>
                <a:solidFill>
                  <a:srgbClr val="0070C0"/>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70C0"/>
                  </a:solidFill>
                  <a:effectLst/>
                  <a:uLnTx/>
                  <a:uFillTx/>
                  <a:latin typeface="Calibri"/>
                  <a:ea typeface="+mn-ea"/>
                  <a:cs typeface="+mn-cs"/>
                </a:rPr>
                <a:t>演变预测</a:t>
              </a:r>
              <a:r>
                <a:rPr kumimoji="0" lang="zh-CN" altLang="en-US" sz="2000" b="1" i="0" u="none" strike="noStrike" kern="1200" cap="none" spc="0" normalizeH="0" baseline="0" noProof="0" dirty="0">
                  <a:ln>
                    <a:noFill/>
                  </a:ln>
                  <a:solidFill>
                    <a:srgbClr val="000000"/>
                  </a:solidFill>
                  <a:effectLst/>
                  <a:uLnTx/>
                  <a:uFillTx/>
                  <a:latin typeface="Calibri"/>
                  <a:ea typeface="+mn-ea"/>
                  <a:cs typeface="+mn-cs"/>
                </a:rPr>
                <a:t>模型</a:t>
              </a:r>
            </a:p>
          </p:txBody>
        </p:sp>
        <p:sp>
          <p:nvSpPr>
            <p:cNvPr id="5" name="箭头: 下 4"/>
            <p:cNvSpPr/>
            <p:nvPr/>
          </p:nvSpPr>
          <p:spPr bwMode="auto">
            <a:xfrm rot="16200000">
              <a:off x="5872071" y="3436687"/>
              <a:ext cx="697195" cy="3382075"/>
            </a:xfrm>
            <a:prstGeom prst="downArrow">
              <a:avLst>
                <a:gd name="adj1" fmla="val 50000"/>
                <a:gd name="adj2" fmla="val 55465"/>
              </a:avLst>
            </a:prstGeom>
            <a:solidFill>
              <a:schemeClr val="accent5">
                <a:lumMod val="40000"/>
                <a:lumOff val="60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1"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25" name="文本框 24"/>
            <p:cNvSpPr txBox="1"/>
            <p:nvPr/>
          </p:nvSpPr>
          <p:spPr>
            <a:xfrm>
              <a:off x="4460442" y="4917995"/>
              <a:ext cx="3374345"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遥感数据与田间样本相结合</a:t>
              </a:r>
              <a:endParaRPr kumimoji="0" lang="en-US" altLang="zh-CN" sz="1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grpSp>
      <p:sp>
        <p:nvSpPr>
          <p:cNvPr id="44" name="文本框 43">
            <a:extLst>
              <a:ext uri="{FF2B5EF4-FFF2-40B4-BE49-F238E27FC236}">
                <a16:creationId xmlns:a16="http://schemas.microsoft.com/office/drawing/2014/main" id="{5210AAD1-6B4B-9BF0-FB39-0A6F585B8673}"/>
              </a:ext>
            </a:extLst>
          </p:cNvPr>
          <p:cNvSpPr txBox="1"/>
          <p:nvPr/>
        </p:nvSpPr>
        <p:spPr>
          <a:xfrm>
            <a:off x="257430" y="3336041"/>
            <a:ext cx="3243196" cy="1294585"/>
          </a:xfrm>
          <a:prstGeom prst="rect">
            <a:avLst/>
          </a:prstGeom>
          <a:noFill/>
        </p:spPr>
        <p:txBody>
          <a:bodyPr wrap="none" rtlCol="0">
            <a:spAutoFit/>
          </a:bodyPr>
          <a:lstStyle/>
          <a:p>
            <a:pPr>
              <a:lnSpc>
                <a:spcPct val="150000"/>
              </a:lnSpc>
            </a:pPr>
            <a:r>
              <a:rPr lang="zh-CN" altLang="en-US" b="1" dirty="0">
                <a:solidFill>
                  <a:srgbClr val="0070C0"/>
                </a:solidFill>
              </a:rPr>
              <a:t>当前研究的主要局限性：</a:t>
            </a:r>
            <a:endParaRPr lang="en-US" altLang="zh-CN" b="1" dirty="0">
              <a:solidFill>
                <a:srgbClr val="0070C0"/>
              </a:solidFill>
            </a:endParaRPr>
          </a:p>
          <a:p>
            <a:pPr marL="285750" indent="-285750">
              <a:lnSpc>
                <a:spcPct val="150000"/>
              </a:lnSpc>
              <a:buFont typeface="Wingdings" panose="05000000000000000000" pitchFamily="2" charset="2"/>
              <a:buChar char="l"/>
            </a:pPr>
            <a:r>
              <a:rPr lang="zh-CN" altLang="en-US" b="1" dirty="0">
                <a:solidFill>
                  <a:srgbClr val="0070C0"/>
                </a:solidFill>
              </a:rPr>
              <a:t>关键指标不明确。</a:t>
            </a:r>
            <a:endParaRPr lang="en-US" altLang="zh-CN" b="1" dirty="0">
              <a:solidFill>
                <a:srgbClr val="0070C0"/>
              </a:solidFill>
            </a:endParaRPr>
          </a:p>
          <a:p>
            <a:pPr marL="285750" indent="-285750">
              <a:lnSpc>
                <a:spcPct val="150000"/>
              </a:lnSpc>
              <a:buFont typeface="Wingdings" panose="05000000000000000000" pitchFamily="2" charset="2"/>
              <a:buChar char="l"/>
            </a:pPr>
            <a:r>
              <a:rPr lang="zh-CN" altLang="en-US" b="1" dirty="0">
                <a:solidFill>
                  <a:srgbClr val="0070C0"/>
                </a:solidFill>
              </a:rPr>
              <a:t>数据量稀缺，样本点过少。</a:t>
            </a:r>
            <a:endParaRPr lang="en-US" altLang="zh-CN" b="1" dirty="0">
              <a:solidFill>
                <a:srgbClr val="0070C0"/>
              </a:solidFill>
            </a:endParaRPr>
          </a:p>
        </p:txBody>
      </p:sp>
      <p:sp>
        <p:nvSpPr>
          <p:cNvPr id="46" name="文本框 45">
            <a:extLst>
              <a:ext uri="{FF2B5EF4-FFF2-40B4-BE49-F238E27FC236}">
                <a16:creationId xmlns:a16="http://schemas.microsoft.com/office/drawing/2014/main" id="{9BCE8B7D-C7FF-E089-3CEE-9856FBEC7D3B}"/>
              </a:ext>
            </a:extLst>
          </p:cNvPr>
          <p:cNvSpPr txBox="1"/>
          <p:nvPr/>
        </p:nvSpPr>
        <p:spPr>
          <a:xfrm>
            <a:off x="257430" y="4698104"/>
            <a:ext cx="4209857" cy="1673728"/>
          </a:xfrm>
          <a:prstGeom prst="rect">
            <a:avLst/>
          </a:prstGeom>
          <a:noFill/>
        </p:spPr>
        <p:txBody>
          <a:bodyPr wrap="square">
            <a:spAutoFit/>
          </a:bodyPr>
          <a:lstStyle/>
          <a:p>
            <a:pPr>
              <a:lnSpc>
                <a:spcPct val="150000"/>
              </a:lnSpc>
            </a:pPr>
            <a:r>
              <a:rPr lang="zh-CN" altLang="en-US" sz="1400" dirty="0"/>
              <a:t>本结果选取回归特征：</a:t>
            </a:r>
          </a:p>
          <a:p>
            <a:pPr>
              <a:lnSpc>
                <a:spcPct val="150000"/>
              </a:lnSpc>
            </a:pPr>
            <a:r>
              <a:rPr lang="en-US" altLang="zh-CN" sz="1400" dirty="0"/>
              <a:t>1</a:t>
            </a:r>
            <a:r>
              <a:rPr lang="zh-CN" altLang="en-US" sz="1400" dirty="0"/>
              <a:t>、光学：</a:t>
            </a:r>
            <a:r>
              <a:rPr lang="en-US" altLang="zh-CN" sz="1400" dirty="0"/>
              <a:t>Landsat 8</a:t>
            </a:r>
            <a:r>
              <a:rPr lang="zh-CN" altLang="en-US" sz="1400" dirty="0"/>
              <a:t>（波段</a:t>
            </a:r>
            <a:r>
              <a:rPr lang="en-US" altLang="zh-CN" sz="1400" dirty="0"/>
              <a:t>1-7</a:t>
            </a:r>
            <a:r>
              <a:rPr lang="zh-CN" altLang="en-US" sz="1400" dirty="0"/>
              <a:t>，</a:t>
            </a:r>
            <a:r>
              <a:rPr lang="en-US" altLang="zh-CN" sz="1400" dirty="0"/>
              <a:t>NDVI</a:t>
            </a:r>
            <a:r>
              <a:rPr lang="zh-CN" altLang="en-US" sz="1400" dirty="0"/>
              <a:t>，</a:t>
            </a:r>
            <a:r>
              <a:rPr lang="en-US" altLang="zh-CN" sz="1400" dirty="0"/>
              <a:t>NDBI</a:t>
            </a:r>
            <a:r>
              <a:rPr lang="zh-CN" altLang="en-US" sz="1400" dirty="0"/>
              <a:t>，</a:t>
            </a:r>
            <a:r>
              <a:rPr lang="en-US" altLang="zh-CN" sz="1400" dirty="0"/>
              <a:t>NDWI</a:t>
            </a:r>
            <a:r>
              <a:rPr lang="zh-CN" altLang="en-US" sz="1400" dirty="0"/>
              <a:t>）</a:t>
            </a:r>
            <a:endParaRPr lang="en-US" altLang="zh-CN" sz="1400" dirty="0"/>
          </a:p>
          <a:p>
            <a:pPr>
              <a:lnSpc>
                <a:spcPct val="150000"/>
              </a:lnSpc>
            </a:pPr>
            <a:r>
              <a:rPr lang="en-US" altLang="zh-CN" sz="1400" dirty="0"/>
              <a:t>2</a:t>
            </a:r>
            <a:r>
              <a:rPr lang="zh-CN" altLang="en-US" sz="1400" dirty="0"/>
              <a:t>、温度：基于</a:t>
            </a:r>
            <a:r>
              <a:rPr lang="en-US" altLang="zh-CN" sz="1400" dirty="0"/>
              <a:t>Landsat 8 </a:t>
            </a:r>
            <a:r>
              <a:rPr lang="zh-CN" altLang="en-US" sz="1400" dirty="0"/>
              <a:t>数据的波段</a:t>
            </a:r>
            <a:r>
              <a:rPr lang="en-US" altLang="zh-CN" sz="1400" dirty="0"/>
              <a:t>10</a:t>
            </a:r>
            <a:r>
              <a:rPr lang="zh-CN" altLang="en-US" sz="1400" dirty="0"/>
              <a:t>进行计算</a:t>
            </a:r>
            <a:endParaRPr lang="en-US" altLang="zh-CN" sz="1400" dirty="0"/>
          </a:p>
          <a:p>
            <a:pPr>
              <a:lnSpc>
                <a:spcPct val="150000"/>
              </a:lnSpc>
            </a:pPr>
            <a:r>
              <a:rPr lang="en-US" altLang="zh-CN" sz="1400" dirty="0"/>
              <a:t>3</a:t>
            </a:r>
            <a:r>
              <a:rPr lang="zh-CN" altLang="en-US" sz="1400" dirty="0"/>
              <a:t>、降水：生长季总降水量（</a:t>
            </a:r>
            <a:r>
              <a:rPr lang="en-US" altLang="zh-CN" sz="1400" dirty="0"/>
              <a:t>Climate Hazards Center</a:t>
            </a:r>
            <a:r>
              <a:rPr lang="zh-CN" altLang="en-US" sz="1400" dirty="0"/>
              <a:t>）</a:t>
            </a:r>
            <a:endParaRPr lang="en-US" altLang="zh-CN" sz="1400" dirty="0"/>
          </a:p>
          <a:p>
            <a:pPr>
              <a:lnSpc>
                <a:spcPct val="150000"/>
              </a:lnSpc>
            </a:pPr>
            <a:r>
              <a:rPr lang="en-US" altLang="zh-CN" sz="1400" dirty="0"/>
              <a:t>4</a:t>
            </a:r>
            <a:r>
              <a:rPr lang="zh-CN" altLang="en-US" sz="1400" dirty="0"/>
              <a:t>、地形：高程、坡度和坡向（</a:t>
            </a:r>
            <a:r>
              <a:rPr lang="en-US" altLang="zh-CN" sz="1400" dirty="0"/>
              <a:t>NASA DEM</a:t>
            </a:r>
            <a:r>
              <a:rPr lang="zh-CN" altLang="en-US" sz="1400" dirty="0"/>
              <a:t>数据）</a:t>
            </a:r>
          </a:p>
        </p:txBody>
      </p:sp>
      <p:sp>
        <p:nvSpPr>
          <p:cNvPr id="48" name="文本框 47">
            <a:extLst>
              <a:ext uri="{FF2B5EF4-FFF2-40B4-BE49-F238E27FC236}">
                <a16:creationId xmlns:a16="http://schemas.microsoft.com/office/drawing/2014/main" id="{D08A4617-BBA5-2599-BF83-CB166920466F}"/>
              </a:ext>
            </a:extLst>
          </p:cNvPr>
          <p:cNvSpPr txBox="1"/>
          <p:nvPr/>
        </p:nvSpPr>
        <p:spPr>
          <a:xfrm>
            <a:off x="191435" y="1718622"/>
            <a:ext cx="7503052" cy="1530291"/>
          </a:xfrm>
          <a:prstGeom prst="rect">
            <a:avLst/>
          </a:prstGeom>
          <a:noFill/>
        </p:spPr>
        <p:txBody>
          <a:bodyPr wrap="square">
            <a:spAutoFit/>
          </a:bodyPr>
          <a:lstStyle/>
          <a:p>
            <a:pPr marL="285750" indent="-285750">
              <a:lnSpc>
                <a:spcPct val="150000"/>
              </a:lnSpc>
              <a:buFont typeface="Wingdings" panose="05000000000000000000" pitchFamily="2" charset="2"/>
              <a:buChar char="l"/>
            </a:pPr>
            <a:r>
              <a:rPr lang="zh-CN" altLang="en-US" sz="1600" dirty="0"/>
              <a:t>参考方正县</a:t>
            </a:r>
            <a:r>
              <a:rPr lang="en-US" altLang="zh-CN" sz="1600" dirty="0"/>
              <a:t>9</a:t>
            </a:r>
            <a:r>
              <a:rPr lang="zh-CN" altLang="en-US" sz="1600" dirty="0"/>
              <a:t>个数据控制点，结合遥感数据采用</a:t>
            </a:r>
            <a:r>
              <a:rPr lang="en-US" altLang="zh-CN" sz="1600" dirty="0"/>
              <a:t>RF</a:t>
            </a:r>
            <a:r>
              <a:rPr lang="zh-CN" altLang="en-US" sz="1600" dirty="0"/>
              <a:t>构建模型初步模拟耕地质量与产量。</a:t>
            </a:r>
            <a:r>
              <a:rPr lang="zh-CN" altLang="en-US" sz="1600" b="1" dirty="0"/>
              <a:t>获取合适的未来情景数据即可预测</a:t>
            </a:r>
            <a:r>
              <a:rPr lang="zh-CN" altLang="en-US" sz="1600" dirty="0"/>
              <a:t>估算耕地质量与产量结果。</a:t>
            </a:r>
            <a:endParaRPr lang="en-US" altLang="zh-CN" sz="1600" dirty="0"/>
          </a:p>
          <a:p>
            <a:pPr marL="285750" indent="-285750">
              <a:lnSpc>
                <a:spcPct val="150000"/>
              </a:lnSpc>
              <a:buFont typeface="Wingdings" panose="05000000000000000000" pitchFamily="2" charset="2"/>
              <a:buChar char="l"/>
            </a:pPr>
            <a:r>
              <a:rPr lang="zh-CN" altLang="en-US" sz="1600" dirty="0"/>
              <a:t>未来拟引入未来气候情景数据（如</a:t>
            </a:r>
            <a:r>
              <a:rPr lang="en-US" altLang="zh-CN" sz="1600" dirty="0"/>
              <a:t>IPCC</a:t>
            </a:r>
            <a:r>
              <a:rPr lang="zh-CN" altLang="en-US" sz="1600" dirty="0"/>
              <a:t>共享社会经济路径下的温度、降水预测）结合实时土壤监测数据开展耕地质量实时监测和推测以及产量提前估测。</a:t>
            </a:r>
            <a:endParaRPr lang="en-US" altLang="zh-CN" sz="1600" dirty="0"/>
          </a:p>
        </p:txBody>
      </p:sp>
    </p:spTree>
  </p:cSld>
  <p:clrMapOvr>
    <a:masterClrMapping/>
  </p:clrMapOvr>
  <p:transition/>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13">
  <a:themeElements>
    <a:clrScheme name="Default Design 2">
      <a:dk1>
        <a:srgbClr val="000000"/>
      </a:dk1>
      <a:lt1>
        <a:srgbClr val="FFFFFF"/>
      </a:lt1>
      <a:dk2>
        <a:srgbClr val="2E507A"/>
      </a:dk2>
      <a:lt2>
        <a:srgbClr val="333333"/>
      </a:lt2>
      <a:accent1>
        <a:srgbClr val="5A90C2"/>
      </a:accent1>
      <a:accent2>
        <a:srgbClr val="8AC246"/>
      </a:accent2>
      <a:accent3>
        <a:srgbClr val="FFFFFF"/>
      </a:accent3>
      <a:accent4>
        <a:srgbClr val="000000"/>
      </a:accent4>
      <a:accent5>
        <a:srgbClr val="B5C6DD"/>
      </a:accent5>
      <a:accent6>
        <a:srgbClr val="7DB03F"/>
      </a:accent6>
      <a:hlink>
        <a:srgbClr val="F6831A"/>
      </a:hlink>
      <a:folHlink>
        <a:srgbClr val="EFC821"/>
      </a:folHlink>
    </a:clrScheme>
    <a:fontScheme name="Default Design">
      <a:majorFont>
        <a:latin typeface="Arial"/>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007F82"/>
          </a:solidFill>
          <a:prstDash val="dash"/>
          <a:round/>
          <a:headEnd type="none" w="med" len="med"/>
          <a:tailEnd type="none" w="med" len="med"/>
        </a:ln>
      </a:spPr>
      <a:bodyPr vert="horz" wrap="square" lIns="91440" tIns="45720" rIns="91440" bIns="45720" numCol="1" rtlCol="0" anchor="t" anchorCtr="0" compatLnSpc="1"/>
      <a:lstStyle>
        <a:defPPr marL="285750" marR="0" lvl="0" indent="-285750" algn="l" defTabSz="914400" rtl="0" eaLnBrk="1" fontAlgn="base" latinLnBrk="0" hangingPunct="1">
          <a:lnSpc>
            <a:spcPct val="150000"/>
          </a:lnSpc>
          <a:spcBef>
            <a:spcPct val="0"/>
          </a:spcBef>
          <a:spcAft>
            <a:spcPct val="0"/>
          </a:spcAft>
          <a:buClrTx/>
          <a:buSzTx/>
          <a:buFont typeface="Wingdings" panose="05000000000000000000" pitchFamily="2" charset="2"/>
          <a:buChar char="Ø"/>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800000"/>
        </a:dk2>
        <a:lt2>
          <a:srgbClr val="333333"/>
        </a:lt2>
        <a:accent1>
          <a:srgbClr val="EB6743"/>
        </a:accent1>
        <a:accent2>
          <a:srgbClr val="D3A911"/>
        </a:accent2>
        <a:accent3>
          <a:srgbClr val="FFFFFF"/>
        </a:accent3>
        <a:accent4>
          <a:srgbClr val="000000"/>
        </a:accent4>
        <a:accent5>
          <a:srgbClr val="F3B8B0"/>
        </a:accent5>
        <a:accent6>
          <a:srgbClr val="BF990E"/>
        </a:accent6>
        <a:hlink>
          <a:srgbClr val="7B9B63"/>
        </a:hlink>
        <a:folHlink>
          <a:srgbClr val="38A3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2E507A"/>
        </a:dk2>
        <a:lt2>
          <a:srgbClr val="333333"/>
        </a:lt2>
        <a:accent1>
          <a:srgbClr val="5A90C2"/>
        </a:accent1>
        <a:accent2>
          <a:srgbClr val="8AC246"/>
        </a:accent2>
        <a:accent3>
          <a:srgbClr val="FFFFFF"/>
        </a:accent3>
        <a:accent4>
          <a:srgbClr val="000000"/>
        </a:accent4>
        <a:accent5>
          <a:srgbClr val="B5C6DD"/>
        </a:accent5>
        <a:accent6>
          <a:srgbClr val="7DB03F"/>
        </a:accent6>
        <a:hlink>
          <a:srgbClr val="F6831A"/>
        </a:hlink>
        <a:folHlink>
          <a:srgbClr val="EFC821"/>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A82A9F"/>
        </a:dk2>
        <a:lt2>
          <a:srgbClr val="4D4D4D"/>
        </a:lt2>
        <a:accent1>
          <a:srgbClr val="12B4D4"/>
        </a:accent1>
        <a:accent2>
          <a:srgbClr val="F1C23D"/>
        </a:accent2>
        <a:accent3>
          <a:srgbClr val="FFFFFF"/>
        </a:accent3>
        <a:accent4>
          <a:srgbClr val="000000"/>
        </a:accent4>
        <a:accent5>
          <a:srgbClr val="AAD6E6"/>
        </a:accent5>
        <a:accent6>
          <a:srgbClr val="DAB036"/>
        </a:accent6>
        <a:hlink>
          <a:srgbClr val="8CA62C"/>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256</Words>
  <Application>Microsoft Office PowerPoint</Application>
  <PresentationFormat>宽屏</PresentationFormat>
  <Paragraphs>22</Paragraphs>
  <Slides>1</Slides>
  <Notes>1</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vt:i4>
      </vt:variant>
    </vt:vector>
  </HeadingPairs>
  <TitlesOfParts>
    <vt:vector size="9" baseType="lpstr">
      <vt:lpstr>等线</vt:lpstr>
      <vt:lpstr>宋体</vt:lpstr>
      <vt:lpstr>微软雅黑</vt:lpstr>
      <vt:lpstr>Arial</vt:lpstr>
      <vt:lpstr>Calibri</vt:lpstr>
      <vt:lpstr>Wingdings</vt:lpstr>
      <vt:lpstr>WPS</vt:lpstr>
      <vt:lpstr>5_13</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尧可</dc:creator>
  <cp:lastModifiedBy>可 尧</cp:lastModifiedBy>
  <cp:revision>5</cp:revision>
  <dcterms:created xsi:type="dcterms:W3CDTF">2023-08-09T12:44:00Z</dcterms:created>
  <dcterms:modified xsi:type="dcterms:W3CDTF">2026-03-25T13:41:39Z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ies>
</file>